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dc85cff-f703-d815-bed6-7f3d2191b3d0}">
          <p14:sldIdLst>
            <p14:sldId id="256"/>
            <p14:sldId id="257"/>
            <p14:sldId id="258"/>
          </p14:sldIdLst>
        </p14:section>
        <p14:section name="Design" id="{67149924-6f18-835f-7a3f-e772e665e01d}">
          <p14:sldIdLst>
            <p14:sldId id="259"/>
            <p14:sldId id="260"/>
            <p14:sldId id="261"/>
          </p14:sldIdLst>
        </p14:section>
        <p14:section name="Algorithm" id="{b2406f9c-e436-bc83-cb35-2e0a5784ea22}">
          <p14:sldIdLst>
            <p14:sldId id="262"/>
            <p14:sldId id="263"/>
          </p14:sldIdLst>
        </p14:section>
        <p14:section name="Features" id="{3a154d29-305b-e4da-efa7-99405ff2cb37}">
          <p14:sldIdLst>
            <p14:sldId id="264"/>
            <p14:sldId id="265"/>
            <p14:sldId id="266"/>
            <p14:sldId id="267"/>
            <p14:sldId id="268"/>
          </p14:sldIdLst>
        </p14:section>
        <p14:section name="Conclusion" id="{13373ac9-a43d-a4bf-f342-12cf820fbcf7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SlotFinder identifies which parking slots are free for a chosen vehicle type and time window, lets users book them, and prevents double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everyday problems that motivated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guided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JavaScript stack: the same language on both client and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used: a three-tier client-server architecture following the MVC pattern. Models are Mongoose schemas, the views are the HTML pages, and the controllers are the Express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collections. A Booking references one User and one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of the project is in utils/freeSlots.js. A single MongoDB query finds every booking that collides with the requested time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features are what set the system apart from a simple slot counter.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eight main features of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page combines live statistics, the search form and the slot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view shows every slot's bookings on a 24-hour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booking flow from search to confirmation, and the My Bookings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rule is enforced twice: live in the browser for user feedback and again on the server with express-validator and Mongoose schema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main ways SlotFinder goes beyond a typical slot-counting booking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and thank the audience. Mention planned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0350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SlotFinder  ·  Free Slot Identification in Vehicle Booking Systems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Free Slot Identification in Vehicle Booking Systems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SlotFinder: find a free parking slot before you arrive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Done by</a:t>
            </a:r>
            <a:endParaRPr lang="en-US" sz="15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Antony Berezin J</a:t>
            </a:r>
            <a:endParaRPr lang="en-US" sz="1500" dirty="0"/>
          </a:p>
        </p:txBody>
      </p:sp>
      <p:sp>
        <p:nvSpPr>
          <p:cNvPr id="5" name="Hero panel"/>
          <p:cNvSpPr/>
          <p:nvPr/>
        </p:nvSpPr>
        <p:spPr>
          <a:xfrm>
            <a:off x="7315200" y="118872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352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Level 0 · Car Parking</a:t>
            </a:r>
            <a:endParaRPr lang="en-US" sz="1600" dirty="0"/>
          </a:p>
        </p:txBody>
      </p:sp>
      <p:sp>
        <p:nvSpPr>
          <p:cNvPr id="7" name="Slot tile 1"/>
          <p:cNvSpPr/>
          <p:nvPr/>
        </p:nvSpPr>
        <p:spPr>
          <a:xfrm>
            <a:off x="7635240" y="205740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7F1D1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lot tile 1 label"/>
          <p:cNvSpPr txBox="1"/>
          <p:nvPr/>
        </p:nvSpPr>
        <p:spPr>
          <a:xfrm>
            <a:off x="7635240" y="20574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A-01</a:t>
            </a:r>
            <a:endParaRPr lang="en-US" sz="1300" dirty="0"/>
          </a:p>
        </p:txBody>
      </p:sp>
      <p:sp>
        <p:nvSpPr>
          <p:cNvPr id="9" name="Slot tile 2"/>
          <p:cNvSpPr/>
          <p:nvPr/>
        </p:nvSpPr>
        <p:spPr>
          <a:xfrm>
            <a:off x="8567928" y="205740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7F1D1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0" name="Slot tile 2 label"/>
          <p:cNvSpPr txBox="1"/>
          <p:nvPr/>
        </p:nvSpPr>
        <p:spPr>
          <a:xfrm>
            <a:off x="8567928" y="20574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A-02</a:t>
            </a:r>
            <a:endParaRPr lang="en-US" sz="1300" dirty="0"/>
          </a:p>
        </p:txBody>
      </p:sp>
      <p:sp>
        <p:nvSpPr>
          <p:cNvPr id="11" name="Slot tile 3"/>
          <p:cNvSpPr/>
          <p:nvPr/>
        </p:nvSpPr>
        <p:spPr>
          <a:xfrm>
            <a:off x="9500616" y="205740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ln w="15875">
            <a:solidFill>
              <a:srgbClr val="22C55E"/>
            </a:solidFill>
            <a:prstDash val="dash"/>
          </a:ln>
        </p:spPr>
      </p:sp>
      <p:sp>
        <p:nvSpPr>
          <p:cNvPr id="12" name="Slot tile 3 label"/>
          <p:cNvSpPr txBox="1"/>
          <p:nvPr/>
        </p:nvSpPr>
        <p:spPr>
          <a:xfrm>
            <a:off x="9500616" y="20574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A-03</a:t>
            </a:r>
            <a:endParaRPr lang="en-US" sz="1300" dirty="0"/>
          </a:p>
        </p:txBody>
      </p:sp>
      <p:sp>
        <p:nvSpPr>
          <p:cNvPr id="13" name="Slot tile 4"/>
          <p:cNvSpPr/>
          <p:nvPr/>
        </p:nvSpPr>
        <p:spPr>
          <a:xfrm>
            <a:off x="10433304" y="205740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7F1D1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4" name="Slot tile 4 label"/>
          <p:cNvSpPr txBox="1"/>
          <p:nvPr/>
        </p:nvSpPr>
        <p:spPr>
          <a:xfrm>
            <a:off x="10433304" y="20574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A-04</a:t>
            </a:r>
            <a:endParaRPr lang="en-US" sz="1300" dirty="0"/>
          </a:p>
        </p:txBody>
      </p:sp>
      <p:sp>
        <p:nvSpPr>
          <p:cNvPr id="15" name="Slot tile 5"/>
          <p:cNvSpPr/>
          <p:nvPr/>
        </p:nvSpPr>
        <p:spPr>
          <a:xfrm>
            <a:off x="7635240" y="292608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ln w="15875">
            <a:solidFill>
              <a:srgbClr val="22C55E"/>
            </a:solidFill>
            <a:prstDash val="dash"/>
          </a:ln>
        </p:spPr>
      </p:sp>
      <p:sp>
        <p:nvSpPr>
          <p:cNvPr id="16" name="Slot tile 5 label"/>
          <p:cNvSpPr txBox="1"/>
          <p:nvPr/>
        </p:nvSpPr>
        <p:spPr>
          <a:xfrm>
            <a:off x="7635240" y="2926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A-05</a:t>
            </a:r>
            <a:endParaRPr lang="en-US" sz="1300" dirty="0"/>
          </a:p>
        </p:txBody>
      </p:sp>
      <p:sp>
        <p:nvSpPr>
          <p:cNvPr id="17" name="Slot tile 6"/>
          <p:cNvSpPr/>
          <p:nvPr/>
        </p:nvSpPr>
        <p:spPr>
          <a:xfrm>
            <a:off x="8567928" y="292608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7F1D1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8" name="Slot tile 6 label"/>
          <p:cNvSpPr txBox="1"/>
          <p:nvPr/>
        </p:nvSpPr>
        <p:spPr>
          <a:xfrm>
            <a:off x="8567928" y="2926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A-06</a:t>
            </a:r>
            <a:endParaRPr lang="en-US" sz="1300" dirty="0"/>
          </a:p>
        </p:txBody>
      </p:sp>
      <p:sp>
        <p:nvSpPr>
          <p:cNvPr id="19" name="Slot tile 7"/>
          <p:cNvSpPr/>
          <p:nvPr/>
        </p:nvSpPr>
        <p:spPr>
          <a:xfrm>
            <a:off x="9500616" y="292608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7F1D1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0" name="Slot tile 7 label"/>
          <p:cNvSpPr txBox="1"/>
          <p:nvPr/>
        </p:nvSpPr>
        <p:spPr>
          <a:xfrm>
            <a:off x="9500616" y="2926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A-07</a:t>
            </a:r>
            <a:endParaRPr lang="en-US" sz="1300" dirty="0"/>
          </a:p>
        </p:txBody>
      </p:sp>
      <p:sp>
        <p:nvSpPr>
          <p:cNvPr id="21" name="Slot tile 8"/>
          <p:cNvSpPr/>
          <p:nvPr/>
        </p:nvSpPr>
        <p:spPr>
          <a:xfrm>
            <a:off x="10433304" y="292608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ln w="15875">
            <a:solidFill>
              <a:srgbClr val="22C55E"/>
            </a:solidFill>
            <a:prstDash val="dash"/>
          </a:ln>
        </p:spPr>
      </p:sp>
      <p:sp>
        <p:nvSpPr>
          <p:cNvPr id="22" name="Slot tile 8 label"/>
          <p:cNvSpPr txBox="1"/>
          <p:nvPr/>
        </p:nvSpPr>
        <p:spPr>
          <a:xfrm>
            <a:off x="10433304" y="2926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A-08</a:t>
            </a:r>
            <a:endParaRPr lang="en-US" sz="1300" dirty="0"/>
          </a:p>
        </p:txBody>
      </p:sp>
      <p:sp>
        <p:nvSpPr>
          <p:cNvPr id="23" name="Slot tile 9"/>
          <p:cNvSpPr/>
          <p:nvPr/>
        </p:nvSpPr>
        <p:spPr>
          <a:xfrm>
            <a:off x="7635240" y="379476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7F1D1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4" name="Slot tile 9 label"/>
          <p:cNvSpPr txBox="1"/>
          <p:nvPr/>
        </p:nvSpPr>
        <p:spPr>
          <a:xfrm>
            <a:off x="7635240" y="37947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A-09</a:t>
            </a:r>
            <a:endParaRPr lang="en-US" sz="1300" dirty="0"/>
          </a:p>
        </p:txBody>
      </p:sp>
      <p:sp>
        <p:nvSpPr>
          <p:cNvPr id="25" name="Slot tile 10"/>
          <p:cNvSpPr/>
          <p:nvPr/>
        </p:nvSpPr>
        <p:spPr>
          <a:xfrm>
            <a:off x="8567928" y="379476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ln w="15875">
            <a:solidFill>
              <a:srgbClr val="22C55E"/>
            </a:solidFill>
            <a:prstDash val="dash"/>
          </a:ln>
        </p:spPr>
      </p:sp>
      <p:sp>
        <p:nvSpPr>
          <p:cNvPr id="26" name="Slot tile 10 label"/>
          <p:cNvSpPr txBox="1"/>
          <p:nvPr/>
        </p:nvSpPr>
        <p:spPr>
          <a:xfrm>
            <a:off x="8567928" y="37947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A-10</a:t>
            </a:r>
            <a:endParaRPr lang="en-US" sz="1300" dirty="0"/>
          </a:p>
        </p:txBody>
      </p:sp>
      <p:sp>
        <p:nvSpPr>
          <p:cNvPr id="27" name="Slot tile 11"/>
          <p:cNvSpPr/>
          <p:nvPr/>
        </p:nvSpPr>
        <p:spPr>
          <a:xfrm>
            <a:off x="9500616" y="379476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ln w="15875">
            <a:solidFill>
              <a:srgbClr val="22C55E"/>
            </a:solidFill>
            <a:prstDash val="dash"/>
          </a:ln>
        </p:spPr>
      </p:sp>
      <p:sp>
        <p:nvSpPr>
          <p:cNvPr id="28" name="Slot tile 11 label"/>
          <p:cNvSpPr txBox="1"/>
          <p:nvPr/>
        </p:nvSpPr>
        <p:spPr>
          <a:xfrm>
            <a:off x="9500616" y="37947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A-11</a:t>
            </a:r>
            <a:endParaRPr lang="en-US" sz="1300" dirty="0"/>
          </a:p>
        </p:txBody>
      </p:sp>
      <p:sp>
        <p:nvSpPr>
          <p:cNvPr id="29" name="Slot tile 12"/>
          <p:cNvSpPr/>
          <p:nvPr/>
        </p:nvSpPr>
        <p:spPr>
          <a:xfrm>
            <a:off x="10433304" y="379476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7F1D1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30" name="Slot tile 12 label"/>
          <p:cNvSpPr txBox="1"/>
          <p:nvPr/>
        </p:nvSpPr>
        <p:spPr>
          <a:xfrm>
            <a:off x="10433304" y="37947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A-12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4800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Free slots found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464040" y="4800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5 of 12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problem: drivers can't see free slots in advance</a:t>
            </a:r>
            <a:endParaRPr lang="en-US" sz="3400" dirty="0"/>
          </a:p>
        </p:txBody>
      </p:sp>
      <p:sp>
        <p:nvSpPr>
          <p:cNvPr id="3" name="Circling for a spot circle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" name="Circling for a spot icon" descr="Circling for a sp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99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Circling for a spot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783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Drivers arrive without knowing whether a slot is free, wasting fuel and time searching.</a:t>
            </a:r>
            <a:endParaRPr lang="en-US" sz="1500" dirty="0"/>
          </a:p>
        </p:txBody>
      </p:sp>
      <p:sp>
        <p:nvSpPr>
          <p:cNvPr id="7" name="Double booking circle"/>
          <p:cNvSpPr/>
          <p:nvPr/>
        </p:nvSpPr>
        <p:spPr>
          <a:xfrm>
            <a:off x="548640" y="2606040"/>
            <a:ext cx="731520" cy="73152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8" name="Double booking icon" descr="Double bo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889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587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Double booking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Simple systems only count slots, so two users can book the same slot for overlapping times.</a:t>
            </a:r>
            <a:endParaRPr lang="en-US" sz="1500" dirty="0"/>
          </a:p>
        </p:txBody>
      </p:sp>
      <p:sp>
        <p:nvSpPr>
          <p:cNvPr id="11" name="No idea when a slot frees up circle"/>
          <p:cNvSpPr/>
          <p:nvPr/>
        </p:nvSpPr>
        <p:spPr>
          <a:xfrm>
            <a:off x="548640" y="3794760"/>
            <a:ext cx="731520" cy="73152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2" name="No idea when a slot frees up icon" descr="No idea when a slot frees 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7764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 idea when a slot frees up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160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When everything is full, users get a "sorry, full" message with no next available time.</a:t>
            </a:r>
            <a:endParaRPr lang="en-US" sz="1500" dirty="0"/>
          </a:p>
        </p:txBody>
      </p:sp>
      <p:sp>
        <p:nvSpPr>
          <p:cNvPr id="15" name="Manual slot management circle"/>
          <p:cNvSpPr/>
          <p:nvPr/>
        </p:nvSpPr>
        <p:spPr>
          <a:xfrm>
            <a:off x="548640" y="4983480"/>
            <a:ext cx="731520" cy="73152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6" name="Manual slot management icon" descr="Manual slot manage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663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Manual slot management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Operators track slots, prices and bookings by hand or in spreadsheets.</a:t>
            </a:r>
            <a:endParaRPr lang="en-US" sz="1500" dirty="0"/>
          </a:p>
        </p:txBody>
      </p:sp>
      <p:sp>
        <p:nvSpPr>
          <p:cNvPr id="19" name="Goal panel"/>
          <p:cNvSpPr/>
          <p:nvPr/>
        </p:nvSpPr>
        <p:spPr>
          <a:xfrm>
            <a:off x="7132320" y="1417320"/>
            <a:ext cx="4480560" cy="457200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49808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</a:rPr>
              <a:t>PROJECT GOAL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7498080" y="21945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Show exactly which slots are free for my vehicle and my time, then book one safely, with no clashes.</a:t>
            </a:r>
            <a:endParaRPr lang="en-US" sz="2200" dirty="0"/>
          </a:p>
        </p:txBody>
      </p:sp>
      <p:sp>
        <p:nvSpPr>
          <p:cNvPr id="22" name="Goal tile 0"/>
          <p:cNvSpPr/>
          <p:nvPr/>
        </p:nvSpPr>
        <p:spPr>
          <a:xfrm>
            <a:off x="7498080" y="466344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4532D"/>
          </a:solidFill>
          <a:ln w="15875">
            <a:solidFill>
              <a:srgbClr val="22C55E"/>
            </a:solidFill>
            <a:prstDash val="dash"/>
          </a:ln>
        </p:spPr>
      </p:sp>
      <p:sp>
        <p:nvSpPr>
          <p:cNvPr id="23" name="Goal tile 0 label"/>
          <p:cNvSpPr txBox="1"/>
          <p:nvPr/>
        </p:nvSpPr>
        <p:spPr>
          <a:xfrm>
            <a:off x="7498080" y="4663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A-01</a:t>
            </a:r>
            <a:endParaRPr lang="en-US" sz="1300" dirty="0"/>
          </a:p>
        </p:txBody>
      </p:sp>
      <p:sp>
        <p:nvSpPr>
          <p:cNvPr id="24" name="Goal tile 1"/>
          <p:cNvSpPr/>
          <p:nvPr/>
        </p:nvSpPr>
        <p:spPr>
          <a:xfrm>
            <a:off x="8778240" y="466344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7F1D1D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5" name="Goal tile 1 label"/>
          <p:cNvSpPr txBox="1"/>
          <p:nvPr/>
        </p:nvSpPr>
        <p:spPr>
          <a:xfrm>
            <a:off x="8778240" y="4663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A-02</a:t>
            </a:r>
            <a:endParaRPr lang="en-US" sz="1300" dirty="0"/>
          </a:p>
        </p:txBody>
      </p:sp>
      <p:sp>
        <p:nvSpPr>
          <p:cNvPr id="26" name="Goal tile 2"/>
          <p:cNvSpPr/>
          <p:nvPr/>
        </p:nvSpPr>
        <p:spPr>
          <a:xfrm>
            <a:off x="10058400" y="466344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4532D"/>
          </a:solidFill>
          <a:ln w="15875">
            <a:solidFill>
              <a:srgbClr val="22C55E"/>
            </a:solidFill>
            <a:prstDash val="dash"/>
          </a:ln>
        </p:spPr>
      </p:sp>
      <p:sp>
        <p:nvSpPr>
          <p:cNvPr id="27" name="Goal tile 2 label"/>
          <p:cNvSpPr txBox="1"/>
          <p:nvPr/>
        </p:nvSpPr>
        <p:spPr>
          <a:xfrm>
            <a:off x="10058400" y="4663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A-03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objectives</a:t>
            </a:r>
            <a:endParaRPr lang="en-US" sz="3400" dirty="0"/>
          </a:p>
        </p:txBody>
      </p:sp>
      <p:sp>
        <p:nvSpPr>
          <p:cNvPr id="3" name="Objective 01"/>
          <p:cNvSpPr/>
          <p:nvPr/>
        </p:nvSpPr>
        <p:spPr>
          <a:xfrm>
            <a:off x="548640" y="155448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Identify free slots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For any vehicle type and time window, using a time-overlap check.</a:t>
            </a:r>
            <a:endParaRPr lang="en-US" sz="1500" dirty="0"/>
          </a:p>
        </p:txBody>
      </p:sp>
      <p:sp>
        <p:nvSpPr>
          <p:cNvPr id="7" name="Objective 02"/>
          <p:cNvSpPr/>
          <p:nvPr/>
        </p:nvSpPr>
        <p:spPr>
          <a:xfrm>
            <a:off x="3364992" y="155448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9312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Prevent double booking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749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Re-check availability at booking time, and stop one vehicle from holding two slots.</a:t>
            </a:r>
            <a:endParaRPr lang="en-US" sz="1500" dirty="0"/>
          </a:p>
        </p:txBody>
      </p:sp>
      <p:sp>
        <p:nvSpPr>
          <p:cNvPr id="11" name="Objective 03"/>
          <p:cNvSpPr/>
          <p:nvPr/>
        </p:nvSpPr>
        <p:spPr>
          <a:xfrm>
            <a:off x="6181344" y="155448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5664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Show live occupancy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749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colour-coded slot map and a 24-hour timeline for each slot.</a:t>
            </a:r>
            <a:endParaRPr lang="en-US" sz="1500" dirty="0"/>
          </a:p>
        </p:txBody>
      </p:sp>
      <p:sp>
        <p:nvSpPr>
          <p:cNvPr id="15" name="Objective 04"/>
          <p:cNvSpPr/>
          <p:nvPr/>
        </p:nvSpPr>
        <p:spPr>
          <a:xfrm>
            <a:off x="8997696" y="155448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72016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04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Secure access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3749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JWT login, user and admin roles, and validation on both client and server.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Frontend card"/>
          <p:cNvSpPr/>
          <p:nvPr/>
        </p:nvSpPr>
        <p:spPr>
          <a:xfrm>
            <a:off x="548640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Frontend circle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5" name="Frontend icon" descr="Front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545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Frontend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HTML5, CSS3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Vanilla JavaScript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Responsive design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Live validation</a:t>
            </a:r>
            <a:endParaRPr lang="en-US" sz="1500" dirty="0"/>
          </a:p>
        </p:txBody>
      </p:sp>
      <p:sp>
        <p:nvSpPr>
          <p:cNvPr id="8" name="Backend card"/>
          <p:cNvSpPr/>
          <p:nvPr/>
        </p:nvSpPr>
        <p:spPr>
          <a:xfrm>
            <a:off x="3364992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Backend circle"/>
          <p:cNvSpPr/>
          <p:nvPr/>
        </p:nvSpPr>
        <p:spPr>
          <a:xfrm>
            <a:off x="3639312" y="1737360"/>
            <a:ext cx="868680" cy="86868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0" name="Backend icon" descr="Back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482" y="195453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Backend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3375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Node.js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Express.js REST API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express-validator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Central error handler</a:t>
            </a:r>
            <a:endParaRPr lang="en-US" sz="1500" dirty="0"/>
          </a:p>
        </p:txBody>
      </p:sp>
      <p:sp>
        <p:nvSpPr>
          <p:cNvPr id="13" name="Database card"/>
          <p:cNvSpPr/>
          <p:nvPr/>
        </p:nvSpPr>
        <p:spPr>
          <a:xfrm>
            <a:off x="6181344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Database circle"/>
          <p:cNvSpPr/>
          <p:nvPr/>
        </p:nvSpPr>
        <p:spPr>
          <a:xfrm>
            <a:off x="6455664" y="1737360"/>
            <a:ext cx="868680" cy="8686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Database icon" descr="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834" y="195453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Database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3375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MongoDB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Mongoose ODM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Schema validation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Compound index</a:t>
            </a:r>
            <a:endParaRPr lang="en-US" sz="1500" dirty="0"/>
          </a:p>
        </p:txBody>
      </p:sp>
      <p:sp>
        <p:nvSpPr>
          <p:cNvPr id="18" name="Security card"/>
          <p:cNvSpPr/>
          <p:nvPr/>
        </p:nvSpPr>
        <p:spPr>
          <a:xfrm>
            <a:off x="8997696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9" name="Security circle"/>
          <p:cNvSpPr/>
          <p:nvPr/>
        </p:nvSpPr>
        <p:spPr>
          <a:xfrm>
            <a:off x="9272016" y="1737360"/>
            <a:ext cx="868680" cy="8686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0" name="Security icon" descr="Secur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86" y="1954530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Security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3375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JWT authentication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bcrypt password hashing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Role-based access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 model: 3-tier client–server (MVC)</a:t>
            </a:r>
            <a:endParaRPr lang="en-US" sz="3400" dirty="0"/>
          </a:p>
        </p:txBody>
      </p:sp>
      <p:sp>
        <p:nvSpPr>
          <p:cNvPr id="3" name="Presentation tier"/>
          <p:cNvSpPr/>
          <p:nvPr/>
        </p:nvSpPr>
        <p:spPr>
          <a:xfrm>
            <a:off x="548640" y="1554480"/>
            <a:ext cx="32461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4" name="Presentation tier circle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5" name="Presentation tier icon" descr="Presentation t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901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PRESENTATION TIER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Browser pages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index · login · register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dashboard · timeline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bookings · admin</a:t>
            </a:r>
            <a:endParaRPr lang="en-US" sz="1500" dirty="0"/>
          </a:p>
        </p:txBody>
      </p:sp>
      <p:sp>
        <p:nvSpPr>
          <p:cNvPr id="9" name="Arrow 0"/>
          <p:cNvSpPr/>
          <p:nvPr/>
        </p:nvSpPr>
        <p:spPr>
          <a:xfrm>
            <a:off x="3886200" y="3108960"/>
            <a:ext cx="45720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Application tier"/>
          <p:cNvSpPr/>
          <p:nvPr/>
        </p:nvSpPr>
        <p:spPr>
          <a:xfrm>
            <a:off x="4434840" y="1554480"/>
            <a:ext cx="32461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1" name="Application tier circle"/>
          <p:cNvSpPr/>
          <p:nvPr/>
        </p:nvSpPr>
        <p:spPr>
          <a:xfrm>
            <a:off x="4709160" y="1828800"/>
            <a:ext cx="777240" cy="77724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2" name="Application tier icon" descr="Application ti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470" y="20231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1901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APPLICATION TIER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623560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Express REST API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2926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Routes (controllers)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Middleware: JWT, validation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freeSlots.js algorithm</a:t>
            </a:r>
            <a:endParaRPr lang="en-US" sz="1500" dirty="0"/>
          </a:p>
        </p:txBody>
      </p:sp>
      <p:sp>
        <p:nvSpPr>
          <p:cNvPr id="16" name="Arrow 1"/>
          <p:cNvSpPr/>
          <p:nvPr/>
        </p:nvSpPr>
        <p:spPr>
          <a:xfrm>
            <a:off x="7772400" y="3108960"/>
            <a:ext cx="45720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7" name="Data tier"/>
          <p:cNvSpPr/>
          <p:nvPr/>
        </p:nvSpPr>
        <p:spPr>
          <a:xfrm>
            <a:off x="8321040" y="1554480"/>
            <a:ext cx="32461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8" name="Data tier circle"/>
          <p:cNvSpPr/>
          <p:nvPr/>
        </p:nvSpPr>
        <p:spPr>
          <a:xfrm>
            <a:off x="8595360" y="1828800"/>
            <a:ext cx="777240" cy="7772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9" name="Data tier icon" descr="Data ti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670" y="202311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509760" y="1901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DATA TIER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509760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MongoDB + Mongoose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595360" y="2926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Models: User, Slot, Booking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Indexes for overlap queries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Local or Atlas cloud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Request flow: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Browser → fetch + JWT → Express route → validation → algorithm → Mongoose → JSON → UI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models (MongoDB / Mongoose)</a:t>
            </a:r>
            <a:endParaRPr lang="en-US" sz="3400" dirty="0"/>
          </a:p>
        </p:txBody>
      </p:sp>
      <p:sp>
        <p:nvSpPr>
          <p:cNvPr id="3" name="User model"/>
          <p:cNvSpPr/>
          <p:nvPr/>
        </p:nvSpPr>
        <p:spPr>
          <a:xfrm>
            <a:off x="548640" y="1463040"/>
            <a:ext cx="3291840" cy="42976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User circle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5" name="User icon" descr="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User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name (3–50 letters)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email (unique)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phone (10 digits, 6–9)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password (bcrypt hash)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role: user | admin</a:t>
            </a:r>
            <a:endParaRPr lang="en-US" sz="1400" dirty="0"/>
          </a:p>
        </p:txBody>
      </p:sp>
      <p:sp>
        <p:nvSpPr>
          <p:cNvPr id="8" name="Booking model"/>
          <p:cNvSpPr/>
          <p:nvPr/>
        </p:nvSpPr>
        <p:spPr>
          <a:xfrm>
            <a:off x="4434840" y="1463040"/>
            <a:ext cx="3291840" cy="42976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Booking circle"/>
          <p:cNvSpPr/>
          <p:nvPr/>
        </p:nvSpPr>
        <p:spPr>
          <a:xfrm>
            <a:off x="4709160" y="1691640"/>
            <a:ext cx="685800" cy="6858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0" name="Booking icon" descr="Bo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Booking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260604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user → User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slot → Slot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vehicleNumber (TN01AB1234)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vehicleType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startTime · endTime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amount (₹)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status: booked | cancelled</a:t>
            </a:r>
            <a:endParaRPr lang="en-US" sz="1400" dirty="0"/>
          </a:p>
        </p:txBody>
      </p:sp>
      <p:sp>
        <p:nvSpPr>
          <p:cNvPr id="13" name="Slot model"/>
          <p:cNvSpPr/>
          <p:nvPr/>
        </p:nvSpPr>
        <p:spPr>
          <a:xfrm>
            <a:off x="8321040" y="1463040"/>
            <a:ext cx="3291840" cy="42976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Slot circle"/>
          <p:cNvSpPr/>
          <p:nvPr/>
        </p:nvSpPr>
        <p:spPr>
          <a:xfrm>
            <a:off x="8595360" y="1691640"/>
            <a:ext cx="685800" cy="68580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Slot icon" descr="Sl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81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41832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Slot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595360" y="260604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slotNumber (A-01, unique)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vehicleType: car | bike | ev | truck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floor (0–10)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pricePerHour (₹1–1000)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isActive</a:t>
            </a:r>
            <a:endParaRPr lang="en-US" sz="1400" dirty="0"/>
          </a:p>
        </p:txBody>
      </p:sp>
      <p:sp>
        <p:nvSpPr>
          <p:cNvPr id="18" name="Ref user"/>
          <p:cNvSpPr/>
          <p:nvPr/>
        </p:nvSpPr>
        <p:spPr>
          <a:xfrm>
            <a:off x="3931920" y="3291840"/>
            <a:ext cx="411480" cy="365760"/>
          </a:xfrm>
          <a:prstGeom prst="leftArrow">
            <a:avLst/>
          </a:prstGeom>
          <a:solidFill>
            <a:schemeClr val="accent6"/>
          </a:solidFill>
          <a:ln/>
        </p:spPr>
      </p:sp>
      <p:sp>
        <p:nvSpPr>
          <p:cNvPr id="19" name="Ref slot"/>
          <p:cNvSpPr/>
          <p:nvPr/>
        </p:nvSpPr>
        <p:spPr>
          <a:xfrm>
            <a:off x="7818120" y="3291840"/>
            <a:ext cx="41148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Index { slot, status, startTime, endTime } on Booking makes the overlap query fast.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free slots are identified</a:t>
            </a:r>
            <a:endParaRPr lang="en-US" sz="3400" dirty="0"/>
          </a:p>
        </p:txBody>
      </p:sp>
      <p:sp>
        <p:nvSpPr>
          <p:cNvPr id="3" name="Formula box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Overlap when   </a:t>
            </a:r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existing.start &lt; requested.end  AND  existing.end &gt; requested.start</a:t>
            </a:r>
            <a:endParaRPr lang="en-US" sz="1700" dirty="0"/>
          </a:p>
        </p:txBody>
      </p:sp>
      <p:sp>
        <p:nvSpPr>
          <p:cNvPr id="5" name="Step 1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7432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Fetch all active slots of the requested vehicle type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bookings (not cancelled) on those slots that overlap the window</a:t>
            </a:r>
            <a:endParaRPr lang="en-US" sz="1500" dirty="0"/>
          </a:p>
        </p:txBody>
      </p:sp>
      <p:sp>
        <p:nvSpPr>
          <p:cNvPr id="11" name="Step 3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89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slots = all slots − slots with an overlapping booking</a:t>
            </a:r>
            <a:endParaRPr lang="en-US" sz="1500" dirty="0"/>
          </a:p>
        </p:txBody>
      </p:sp>
      <p:sp>
        <p:nvSpPr>
          <p:cNvPr id="14" name="Step 4"/>
          <p:cNvSpPr/>
          <p:nvPr/>
        </p:nvSpPr>
        <p:spPr>
          <a:xfrm>
            <a:off x="548640" y="5212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5212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Return free slots with estimated cost = price/hr × hours</a:t>
            </a:r>
            <a:endParaRPr lang="en-US" sz="1500" dirty="0"/>
          </a:p>
        </p:txBody>
      </p:sp>
      <p:sp>
        <p:nvSpPr>
          <p:cNvPr id="17" name="Timeline example"/>
          <p:cNvSpPr/>
          <p:nvPr/>
        </p:nvSpPr>
        <p:spPr>
          <a:xfrm>
            <a:off x="6126480" y="2651760"/>
            <a:ext cx="548640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Example: request 11:00 – 13:00</a:t>
            </a:r>
            <a:endParaRPr lang="en-US" sz="1500" dirty="0"/>
          </a:p>
        </p:txBody>
      </p:sp>
      <p:sp>
        <p:nvSpPr>
          <p:cNvPr id="19" name="Requested window"/>
          <p:cNvSpPr/>
          <p:nvPr/>
        </p:nvSpPr>
        <p:spPr>
          <a:xfrm>
            <a:off x="7635240" y="3246120"/>
            <a:ext cx="822960" cy="2148840"/>
          </a:xfrm>
          <a:prstGeom prst="rect">
            <a:avLst/>
          </a:prstGeom>
          <a:solidFill>
            <a:srgbClr val="DBEAFE">
              <a:alpha val="70000"/>
            </a:srgbClr>
          </a:solidFill>
          <a:ln w="15875">
            <a:solidFill>
              <a:srgbClr val="2563EB"/>
            </a:solidFill>
            <a:prstDash val="dash"/>
          </a:ln>
        </p:spPr>
      </p:sp>
      <p:sp>
        <p:nvSpPr>
          <p:cNvPr id="20" name="Track A-01"/>
          <p:cNvSpPr/>
          <p:nvPr/>
        </p:nvSpPr>
        <p:spPr>
          <a:xfrm>
            <a:off x="6400800" y="3538728"/>
            <a:ext cx="493776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Booking A-01"/>
          <p:cNvSpPr/>
          <p:nvPr/>
        </p:nvSpPr>
        <p:spPr>
          <a:xfrm>
            <a:off x="6812280" y="3493008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3493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A-01</a:t>
            </a:r>
            <a:endParaRPr lang="en-US" sz="1200" dirty="0"/>
          </a:p>
        </p:txBody>
      </p:sp>
      <p:sp>
        <p:nvSpPr>
          <p:cNvPr id="23" name="Track A-02"/>
          <p:cNvSpPr/>
          <p:nvPr/>
        </p:nvSpPr>
        <p:spPr>
          <a:xfrm>
            <a:off x="6400800" y="4224528"/>
            <a:ext cx="493776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Booking A-02"/>
          <p:cNvSpPr/>
          <p:nvPr/>
        </p:nvSpPr>
        <p:spPr>
          <a:xfrm>
            <a:off x="8869680" y="4178808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4178808"/>
            <a:ext cx="64008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A-02</a:t>
            </a:r>
            <a:endParaRPr lang="en-US" sz="1200" dirty="0"/>
          </a:p>
        </p:txBody>
      </p:sp>
      <p:sp>
        <p:nvSpPr>
          <p:cNvPr id="26" name="Track A-03"/>
          <p:cNvSpPr/>
          <p:nvPr/>
        </p:nvSpPr>
        <p:spPr>
          <a:xfrm>
            <a:off x="6400800" y="4910328"/>
            <a:ext cx="493776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Booking A-03"/>
          <p:cNvSpPr/>
          <p:nvPr/>
        </p:nvSpPr>
        <p:spPr>
          <a:xfrm>
            <a:off x="8252460" y="4864608"/>
            <a:ext cx="102870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4864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A-03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5577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A-01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overlaps → busy   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A-02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FREE   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A-03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overlaps → busy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Smart suggestions and zero double bookings</a:t>
            </a:r>
            <a:endParaRPr lang="en-US" sz="3400" dirty="0"/>
          </a:p>
        </p:txBody>
      </p:sp>
      <p:sp>
        <p:nvSpPr>
          <p:cNvPr id="3" name="Next free card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Next free suggestion circle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5" name="Next free suggestion icon" descr="Next free sugg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316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74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Next-free suggestion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When every slot is full, SlotFinder doesn't just say "full".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For each slot, walk its future bookings in time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Push the candidate start past each colliding booking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Stop at the first gap long enough for the same duration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Suggest the earliest result across all slots</a:t>
            </a:r>
            <a:endParaRPr lang="en-US" sz="1500" dirty="0"/>
          </a:p>
        </p:txBody>
      </p:sp>
      <p:sp>
        <p:nvSpPr>
          <p:cNvPr id="8" name="Double booking card"/>
          <p:cNvSpPr/>
          <p:nvPr/>
        </p:nvSpPr>
        <p:spPr>
          <a:xfrm>
            <a:off x="6263640" y="1463040"/>
            <a:ext cx="53492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9" name="Double booking prevention circle"/>
          <p:cNvSpPr/>
          <p:nvPr/>
        </p:nvSpPr>
        <p:spPr>
          <a:xfrm>
            <a:off x="6583680" y="173736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0" name="Double booking prevention icon" descr="Double booking preven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193167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Double-booking prevention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Re-check at booking time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30815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Availability is checked again on POST, so a slot taken seconds ago returns 409 Conflict.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vehicle, one slot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41330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vehicle number can't hold two overlapping bookings.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4846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Right slot for the vehicle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51846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bike can't be booked into a car or EV slot.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Website features at a glance</a:t>
            </a:r>
            <a:endParaRPr lang="en-US" sz="3400" dirty="0"/>
          </a:p>
        </p:txBody>
      </p:sp>
      <p:sp>
        <p:nvSpPr>
          <p:cNvPr id="3" name="Free slot search tile"/>
          <p:cNvSpPr/>
          <p:nvPr/>
        </p:nvSpPr>
        <p:spPr>
          <a:xfrm>
            <a:off x="548640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ree slot search 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" name="Free slot search icon" descr="Free slot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Free slot search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By vehicle type and time window, with estimated cost</a:t>
            </a:r>
            <a:endParaRPr lang="en-US" sz="1300" dirty="0"/>
          </a:p>
        </p:txBody>
      </p:sp>
      <p:sp>
        <p:nvSpPr>
          <p:cNvPr id="8" name="Live slot map tile"/>
          <p:cNvSpPr/>
          <p:nvPr/>
        </p:nvSpPr>
        <p:spPr>
          <a:xfrm>
            <a:off x="3364992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Live slot map circle"/>
          <p:cNvSpPr/>
          <p:nvPr/>
        </p:nvSpPr>
        <p:spPr>
          <a:xfrm>
            <a:off x="3593592" y="1645920"/>
            <a:ext cx="640080" cy="64008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0" name="Live slot map icon" descr="Live slot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12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3592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Live slot map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93592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Colour-coded free / occupied / inactive grid, refreshes every 30 s</a:t>
            </a:r>
            <a:endParaRPr lang="en-US" sz="1300" dirty="0"/>
          </a:p>
        </p:txBody>
      </p:sp>
      <p:sp>
        <p:nvSpPr>
          <p:cNvPr id="13" name="Day view timeline tile"/>
          <p:cNvSpPr/>
          <p:nvPr/>
        </p:nvSpPr>
        <p:spPr>
          <a:xfrm>
            <a:off x="6181344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Day view timeline circle"/>
          <p:cNvSpPr/>
          <p:nvPr/>
        </p:nvSpPr>
        <p:spPr>
          <a:xfrm>
            <a:off x="6409944" y="16459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5" name="Day view timeline icon" descr="Day view time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8059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9944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Day view timeline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9944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24-hour bar per slot with a current-time marker</a:t>
            </a:r>
            <a:endParaRPr lang="en-US" sz="1300" dirty="0"/>
          </a:p>
        </p:txBody>
      </p:sp>
      <p:sp>
        <p:nvSpPr>
          <p:cNvPr id="18" name="Next-free suggestion tile"/>
          <p:cNvSpPr/>
          <p:nvPr/>
        </p:nvSpPr>
        <p:spPr>
          <a:xfrm>
            <a:off x="8997696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Next-free suggestion circle"/>
          <p:cNvSpPr/>
          <p:nvPr/>
        </p:nvSpPr>
        <p:spPr>
          <a:xfrm>
            <a:off x="9226296" y="16459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0" name="Next-free suggestion icon" descr="Next-free sugg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316" y="18059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26296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Next-free suggestion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26296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Earliest time a slot frees up for the same duration</a:t>
            </a:r>
            <a:endParaRPr lang="en-US" sz="1300" dirty="0"/>
          </a:p>
        </p:txBody>
      </p:sp>
      <p:sp>
        <p:nvSpPr>
          <p:cNvPr id="23" name="Booking tile"/>
          <p:cNvSpPr/>
          <p:nvPr/>
        </p:nvSpPr>
        <p:spPr>
          <a:xfrm>
            <a:off x="548640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Booking circle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5" name="Booking icon" descr="Book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Booking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166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Booking summary with amount and no double booking</a:t>
            </a:r>
            <a:endParaRPr lang="en-US" sz="1300" dirty="0"/>
          </a:p>
        </p:txBody>
      </p:sp>
      <p:sp>
        <p:nvSpPr>
          <p:cNvPr id="28" name="My bookings tile"/>
          <p:cNvSpPr/>
          <p:nvPr/>
        </p:nvSpPr>
        <p:spPr>
          <a:xfrm>
            <a:off x="3364992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My bookings circle"/>
          <p:cNvSpPr/>
          <p:nvPr/>
        </p:nvSpPr>
        <p:spPr>
          <a:xfrm>
            <a:off x="3593592" y="406908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30" name="My bookings icon" descr="My booking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3612" y="422910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93592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My bookings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3593592" y="5166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Filter Upcoming / Active / Completed / Cancelled, cancel</a:t>
            </a:r>
            <a:endParaRPr lang="en-US" sz="1300" dirty="0"/>
          </a:p>
        </p:txBody>
      </p:sp>
      <p:sp>
        <p:nvSpPr>
          <p:cNvPr id="33" name="Admin panel tile"/>
          <p:cNvSpPr/>
          <p:nvPr/>
        </p:nvSpPr>
        <p:spPr>
          <a:xfrm>
            <a:off x="6181344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34" name="Admin panel circle"/>
          <p:cNvSpPr/>
          <p:nvPr/>
        </p:nvSpPr>
        <p:spPr>
          <a:xfrm>
            <a:off x="6409944" y="4069080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5" name="Admin panel icon" descr="Admin pan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9964" y="422910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409944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Admin panel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6409944" y="5166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Manage slots and bookings, view revenue stats</a:t>
            </a:r>
            <a:endParaRPr lang="en-US" sz="1300" dirty="0"/>
          </a:p>
        </p:txBody>
      </p:sp>
      <p:sp>
        <p:nvSpPr>
          <p:cNvPr id="38" name="Responsive UI tile"/>
          <p:cNvSpPr/>
          <p:nvPr/>
        </p:nvSpPr>
        <p:spPr>
          <a:xfrm>
            <a:off x="8997696" y="384048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39" name="Responsive UI circle"/>
          <p:cNvSpPr/>
          <p:nvPr/>
        </p:nvSpPr>
        <p:spPr>
          <a:xfrm>
            <a:off x="9226296" y="4069080"/>
            <a:ext cx="640080" cy="64008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40" name="Responsive UI icon" descr="Responsive U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4229100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226296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Responsive UI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9226296" y="5166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Works on mobile, tablet and desktop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Find a Free Slot: live occupancy and search</a:t>
            </a:r>
            <a:endParaRPr lang="en-US" sz="3400" dirty="0"/>
          </a:p>
        </p:txBody>
      </p:sp>
      <p:sp>
        <p:nvSpPr>
          <p:cNvPr id="3" name="Find Slot dashboard screenshot frame"/>
          <p:cNvSpPr/>
          <p:nvPr/>
        </p:nvSpPr>
        <p:spPr>
          <a:xfrm>
            <a:off x="548640" y="1417320"/>
            <a:ext cx="7680960" cy="401316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5000"/>
              </a:srgbClr>
            </a:outerShdw>
          </a:effectLst>
        </p:spPr>
      </p:sp>
      <p:pic>
        <p:nvPicPr>
          <p:cNvPr id="4" name="Find Slot dashboard screenshot" descr="Find Slot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013160"/>
          </a:xfrm>
          <a:prstGeom prst="rect">
            <a:avLst/>
          </a:prstGeom>
        </p:spPr>
      </p:pic>
      <p:sp>
        <p:nvSpPr>
          <p:cNvPr id="5" name="Callout 0"/>
          <p:cNvSpPr/>
          <p:nvPr/>
        </p:nvSpPr>
        <p:spPr>
          <a:xfrm>
            <a:off x="85496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49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1490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Stat cards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Total slots, free now, occupied now and occupancy %</a:t>
            </a:r>
            <a:endParaRPr lang="en-US" sz="1400" dirty="0"/>
          </a:p>
        </p:txBody>
      </p:sp>
      <p:sp>
        <p:nvSpPr>
          <p:cNvPr id="9" name="Callout 1"/>
          <p:cNvSpPr/>
          <p:nvPr/>
        </p:nvSpPr>
        <p:spPr>
          <a:xfrm>
            <a:off x="854964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49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2953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Search form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Vehicle type, From / To and live duration</a:t>
            </a:r>
            <a:endParaRPr lang="en-US" sz="1400" dirty="0"/>
          </a:p>
        </p:txBody>
      </p:sp>
      <p:sp>
        <p:nvSpPr>
          <p:cNvPr id="13" name="Callout 2"/>
          <p:cNvSpPr/>
          <p:nvPr/>
        </p:nvSpPr>
        <p:spPr>
          <a:xfrm>
            <a:off x="8549640" y="4389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49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4416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Live slot map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4800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Green = free, red = occupied, showing "till"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Day view: 24-hour timeline per slot</a:t>
            </a:r>
            <a:endParaRPr lang="en-US" sz="3400" dirty="0"/>
          </a:p>
        </p:txBody>
      </p:sp>
      <p:sp>
        <p:nvSpPr>
          <p:cNvPr id="3" name="Day view screenshot frame"/>
          <p:cNvSpPr/>
          <p:nvPr/>
        </p:nvSpPr>
        <p:spPr>
          <a:xfrm>
            <a:off x="4160520" y="1371600"/>
            <a:ext cx="7452360" cy="4037602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5000"/>
              </a:srgbClr>
            </a:outerShdw>
          </a:effectLst>
        </p:spPr>
      </p:sp>
      <p:pic>
        <p:nvPicPr>
          <p:cNvPr id="4" name="Day view screenshot" descr="Day view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371600"/>
            <a:ext cx="7452360" cy="4037602"/>
          </a:xfrm>
          <a:prstGeom prst="rect">
            <a:avLst/>
          </a:prstGeom>
        </p:spPr>
      </p:pic>
      <p:sp>
        <p:nvSpPr>
          <p:cNvPr id="5" name="Free circle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6" name="Free icon" descr="F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6230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Free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Light green track = slot is available</a:t>
            </a:r>
            <a:endParaRPr lang="en-US" sz="1400" dirty="0"/>
          </a:p>
        </p:txBody>
      </p:sp>
      <p:sp>
        <p:nvSpPr>
          <p:cNvPr id="9" name="Booked circle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0" name="Booked icon" descr="Book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0403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Booked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Red block = existing booking with its time</a:t>
            </a:r>
            <a:endParaRPr lang="en-US" sz="1400" dirty="0"/>
          </a:p>
        </p:txBody>
      </p:sp>
      <p:sp>
        <p:nvSpPr>
          <p:cNvPr id="13" name="Current time circle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4" name="Current time icon" descr="Current ti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45770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Current time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1371600" y="4663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Blue marker moves across every slot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577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Users spot free windows at a glance, before they search.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Booking a slot and managing bookings</a:t>
            </a:r>
            <a:endParaRPr lang="en-US" sz="3400" dirty="0"/>
          </a:p>
        </p:txBody>
      </p:sp>
      <p:sp>
        <p:nvSpPr>
          <p:cNvPr id="3" name="Bike slot results screenshot frame"/>
          <p:cNvSpPr/>
          <p:nvPr/>
        </p:nvSpPr>
        <p:spPr>
          <a:xfrm>
            <a:off x="548640" y="1417320"/>
            <a:ext cx="5486400" cy="2064628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5000"/>
              </a:srgbClr>
            </a:outerShdw>
          </a:effectLst>
        </p:spPr>
      </p:sp>
      <p:pic>
        <p:nvPicPr>
          <p:cNvPr id="4" name="Bike slot results screenshot" descr="Bike slot result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86400" cy="20646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6191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Search results: free bike slots with price and estimated cost</a:t>
            </a:r>
            <a:endParaRPr lang="en-US" sz="1300" dirty="0"/>
          </a:p>
        </p:txBody>
      </p:sp>
      <p:sp>
        <p:nvSpPr>
          <p:cNvPr id="6" name="My bookings screenshot frame"/>
          <p:cNvSpPr/>
          <p:nvPr/>
        </p:nvSpPr>
        <p:spPr>
          <a:xfrm>
            <a:off x="6355080" y="1417320"/>
            <a:ext cx="5257800" cy="1984908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5000"/>
              </a:srgbClr>
            </a:outerShdw>
          </a:effectLst>
        </p:spPr>
      </p:sp>
      <p:pic>
        <p:nvPicPr>
          <p:cNvPr id="7" name="My bookings screenshot" descr="My booking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257800" cy="19849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353938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My Bookings: filter by status and cancel</a:t>
            </a:r>
            <a:endParaRPr lang="en-US" sz="1300" dirty="0"/>
          </a:p>
        </p:txBody>
      </p:sp>
      <p:sp>
        <p:nvSpPr>
          <p:cNvPr id="9" name="Flow 0"/>
          <p:cNvSpPr/>
          <p:nvPr/>
        </p:nvSpPr>
        <p:spPr>
          <a:xfrm>
            <a:off x="548640" y="45720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48640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Search</a:t>
            </a:r>
            <a:endParaRPr lang="en-US" sz="1500" dirty="0"/>
          </a:p>
        </p:txBody>
      </p:sp>
      <p:sp>
        <p:nvSpPr>
          <p:cNvPr id="11" name="Flow arrow 0"/>
          <p:cNvSpPr/>
          <p:nvPr/>
        </p:nvSpPr>
        <p:spPr>
          <a:xfrm>
            <a:off x="2606040" y="4800600"/>
            <a:ext cx="18288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Flow 1"/>
          <p:cNvSpPr/>
          <p:nvPr/>
        </p:nvSpPr>
        <p:spPr>
          <a:xfrm>
            <a:off x="2816352" y="45720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816352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Pick a free slot</a:t>
            </a:r>
            <a:endParaRPr lang="en-US" sz="1500" dirty="0"/>
          </a:p>
        </p:txBody>
      </p:sp>
      <p:sp>
        <p:nvSpPr>
          <p:cNvPr id="14" name="Flow arrow 1"/>
          <p:cNvSpPr/>
          <p:nvPr/>
        </p:nvSpPr>
        <p:spPr>
          <a:xfrm>
            <a:off x="4873752" y="4800600"/>
            <a:ext cx="18288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Flow 2"/>
          <p:cNvSpPr/>
          <p:nvPr/>
        </p:nvSpPr>
        <p:spPr>
          <a:xfrm>
            <a:off x="5084064" y="45720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084064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Enter vehicle no.</a:t>
            </a:r>
            <a:endParaRPr lang="en-US" sz="1500" dirty="0"/>
          </a:p>
        </p:txBody>
      </p:sp>
      <p:sp>
        <p:nvSpPr>
          <p:cNvPr id="17" name="Flow arrow 2"/>
          <p:cNvSpPr/>
          <p:nvPr/>
        </p:nvSpPr>
        <p:spPr>
          <a:xfrm>
            <a:off x="7141464" y="4800600"/>
            <a:ext cx="18288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8" name="Flow 3"/>
          <p:cNvSpPr/>
          <p:nvPr/>
        </p:nvSpPr>
        <p:spPr>
          <a:xfrm>
            <a:off x="7351776" y="45720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51776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Confirm amount</a:t>
            </a:r>
            <a:endParaRPr lang="en-US" sz="1500" dirty="0"/>
          </a:p>
        </p:txBody>
      </p:sp>
      <p:sp>
        <p:nvSpPr>
          <p:cNvPr id="20" name="Flow arrow 3"/>
          <p:cNvSpPr/>
          <p:nvPr/>
        </p:nvSpPr>
        <p:spPr>
          <a:xfrm>
            <a:off x="9409176" y="4800600"/>
            <a:ext cx="18288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1" name="Flow 4"/>
          <p:cNvSpPr/>
          <p:nvPr/>
        </p:nvSpPr>
        <p:spPr>
          <a:xfrm>
            <a:off x="9619488" y="45720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619488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Booked ✓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Validation and security</a:t>
            </a:r>
            <a:endParaRPr lang="en-US" sz="3400" dirty="0"/>
          </a:p>
        </p:txBody>
      </p:sp>
      <p:graphicFrame>
        <p:nvGraphicFramePr>
          <p:cNvPr id="14" name="Valid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937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Rule (checked in browser and on server)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3–50 characters, letters and spaces only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Mobile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Exactly 10 digits, starts with 6–9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Password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8+ chars: upper, lower, number, special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Vehicle no.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Indian format, e.g. TN01AB1234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Time window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Not in past, ≤ 30 days ahead, 30 min – 24 h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Slot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Format A-01, unique; price ₹1–1000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JWT authentication circle"/>
          <p:cNvSpPr/>
          <p:nvPr/>
        </p:nvSpPr>
        <p:spPr>
          <a:xfrm>
            <a:off x="7543800" y="1463040"/>
            <a:ext cx="685800" cy="6858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5" name="JWT authentication icon" descr="JWT authent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0" y="1634490"/>
            <a:ext cx="342900" cy="342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4124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JWT authentication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Token sent as Bearer header on every API call</a:t>
            </a:r>
            <a:endParaRPr lang="en-US" sz="1400" dirty="0"/>
          </a:p>
        </p:txBody>
      </p:sp>
      <p:sp>
        <p:nvSpPr>
          <p:cNvPr id="8" name="bcrypt hashing circle"/>
          <p:cNvSpPr/>
          <p:nvPr/>
        </p:nvSpPr>
        <p:spPr>
          <a:xfrm>
            <a:off x="7543800" y="2834640"/>
            <a:ext cx="685800" cy="6858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bcrypt hashing icon" descr="bcrypt hash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3006090"/>
            <a:ext cx="342900" cy="3429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41248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bcrypt hashing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841248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Passwords never stored in plain text</a:t>
            </a:r>
            <a:endParaRPr lang="en-US" sz="1400" dirty="0"/>
          </a:p>
        </p:txBody>
      </p:sp>
      <p:sp>
        <p:nvSpPr>
          <p:cNvPr id="12" name="Role-based access circle"/>
          <p:cNvSpPr/>
          <p:nvPr/>
        </p:nvSpPr>
        <p:spPr>
          <a:xfrm>
            <a:off x="7543800" y="4206240"/>
            <a:ext cx="685800" cy="6858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3" name="Role-based access icon" descr="Role-based acc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4377690"/>
            <a:ext cx="342900" cy="3429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Role-based access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8412480" y="4572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Admin-only routes for slots and stats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differences from other booking websites</a:t>
            </a:r>
            <a:endParaRPr lang="en-US" sz="3400" dirty="0"/>
          </a:p>
        </p:txBody>
      </p:sp>
      <p:graphicFrame>
        <p:nvGraphicFramePr>
          <p:cNvPr id="1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29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Typical parking / booking sites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SlotFinder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Availability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Total count of spaces, or a static list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Per-slot check against bookings for your exact time window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When full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"No slots available"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Suggests the next free time for the same duration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Double booking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Possible when two users book at once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Re-check at booking + vehicle clash check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Visibility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Plain list of slots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Live colour-coded map + 24-hour day timeline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Vehicle types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Usually cars only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Car, bike, EV and truck slots with own prices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Known only at the counter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Estimated cost shown before booking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 and future scope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SlotFinder identifies truly free slots, prevents double booking, and gives drivers and admins a live view of the parking.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74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</a:rPr>
              <a:t>Tested with 24 automated API tests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  ·  Antony Berezin J</a:t>
            </a:r>
            <a:endParaRPr lang="en-US" sz="2000" dirty="0"/>
          </a:p>
        </p:txBody>
      </p:sp>
      <p:sp>
        <p:nvSpPr>
          <p:cNvPr id="6" name="Future scope panel"/>
          <p:cNvSpPr/>
          <p:nvPr/>
        </p:nvSpPr>
        <p:spPr>
          <a:xfrm>
            <a:off x="7315200" y="118872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352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8" name="Online payment gateway circle"/>
          <p:cNvSpPr/>
          <p:nvPr/>
        </p:nvSpPr>
        <p:spPr>
          <a:xfrm>
            <a:off x="7635240" y="2011680"/>
            <a:ext cx="502920" cy="5029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9" name="Online payment gateway icon" descr="Online payment gatew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0970" y="213741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32104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Online payment gateway</a:t>
            </a:r>
            <a:endParaRPr lang="en-US" sz="1500" dirty="0"/>
          </a:p>
        </p:txBody>
      </p:sp>
      <p:sp>
        <p:nvSpPr>
          <p:cNvPr id="11" name="IoT sensors for real occupancy circle"/>
          <p:cNvSpPr/>
          <p:nvPr/>
        </p:nvSpPr>
        <p:spPr>
          <a:xfrm>
            <a:off x="7635240" y="2706624"/>
            <a:ext cx="502920" cy="5029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2" name="IoT sensors for real occupancy icon" descr="IoT sensors for real occupan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970" y="2832354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321040" y="2706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IoT sensors for real occupancy</a:t>
            </a:r>
            <a:endParaRPr lang="en-US" sz="1500" dirty="0"/>
          </a:p>
        </p:txBody>
      </p:sp>
      <p:sp>
        <p:nvSpPr>
          <p:cNvPr id="14" name="QR code entry and exit circle"/>
          <p:cNvSpPr/>
          <p:nvPr/>
        </p:nvSpPr>
        <p:spPr>
          <a:xfrm>
            <a:off x="7635240" y="3401568"/>
            <a:ext cx="502920" cy="5029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5" name="QR code entry and exit icon" descr="QR code entry and ex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0" y="352729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34015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QR code entry and exit</a:t>
            </a:r>
            <a:endParaRPr lang="en-US" sz="1500" dirty="0"/>
          </a:p>
        </p:txBody>
      </p:sp>
      <p:sp>
        <p:nvSpPr>
          <p:cNvPr id="17" name="Mobile app with notifications circle"/>
          <p:cNvSpPr/>
          <p:nvPr/>
        </p:nvSpPr>
        <p:spPr>
          <a:xfrm>
            <a:off x="7635240" y="4096512"/>
            <a:ext cx="502920" cy="5029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8" name="Mobile app with notifications icon" descr="Mobile app with notific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970" y="4222242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21040" y="4096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Mobile app with notifications</a:t>
            </a:r>
            <a:endParaRPr lang="en-US" sz="1500" dirty="0"/>
          </a:p>
        </p:txBody>
      </p:sp>
      <p:sp>
        <p:nvSpPr>
          <p:cNvPr id="20" name="Map of multiple parking sites circle"/>
          <p:cNvSpPr/>
          <p:nvPr/>
        </p:nvSpPr>
        <p:spPr>
          <a:xfrm>
            <a:off x="7635240" y="4791456"/>
            <a:ext cx="502920" cy="5029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1" name="Map of multiple parking sites icon" descr="Map of multiple parking sit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970" y="4917186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321040" y="47914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Map of multiple parking sites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otFinder Parking">
  <a:themeElements>
    <a:clrScheme name="SlotFinder Parking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16A34A"/>
      </a:accent1>
      <a:accent2>
        <a:srgbClr val="DC2626"/>
      </a:accent2>
      <a:accent3>
        <a:srgbClr val="2563EB"/>
      </a:accent3>
      <a:accent4>
        <a:srgbClr val="F59E0B"/>
      </a:accent4>
      <a:accent5>
        <a:srgbClr val="0D9488"/>
      </a:accent5>
      <a:accent6>
        <a:srgbClr val="64748B"/>
      </a:accent6>
      <a:hlink>
        <a:srgbClr val="2563EB"/>
      </a:hlink>
      <a:folHlink>
        <a:srgbClr val="7C3AED"/>
      </a:folHlink>
    </a:clrScheme>
    <a:fontScheme name="SlotFinder Parking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Slot Identification in Vehicle Booking Systems</dc:title>
  <dc:subject>PptxGenJS Presentation</dc:subject>
  <dc:creator>Antony Berezin J</dc:creator>
  <cp:lastModifiedBy>Antony Berezin J</cp:lastModifiedBy>
  <cp:revision>1</cp:revision>
  <dcterms:created xsi:type="dcterms:W3CDTF">2026-10-28T18:21:37Z</dcterms:created>
  <dcterms:modified xsi:type="dcterms:W3CDTF">2026-10-28T18:21:37Z</dcterms:modified>
</cp:coreProperties>
</file>